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8229600" cx="14630400"/>
  <p:notesSz cx="8229600" cy="14630400"/>
  <p:embeddedFontLst>
    <p:embeddedFont>
      <p:font typeface="Inter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CCA937-0553-4194-BF48-FEB1E80425F3}">
  <a:tblStyle styleId="{96CCA937-0553-4194-BF48-FEB1E80425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4a7b25080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4a7b25080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84a7b25080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4a7b25080_2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4a7b25080_2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4a7b25080_2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4a7b25080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4a7b25080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84a7b25080_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66c83750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66c83750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666c83750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66c83750c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66c83750c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666c83750c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66c83750c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66c83750c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666c83750c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6078e97d0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6078e97d0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86078e97d0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6078e97d0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6078e97d0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86078e97d0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6078e97d0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6078e97d0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86078e97d0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6078e97d0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6078e97d0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86078e97d0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671aee5c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671aee5c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6671aee5c6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671aee5c6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671aee5c6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6671aee5c6_0_1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77a529ea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877a529ea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877a529ea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676f833a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676f833a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6676f833a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7329f8ef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7329f8ef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87329f8ef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62cad7719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62cad7719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862cad7719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6078e97d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86078e97d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86078e97d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86078e97d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86078e97d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86078e97d0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b2e754c6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b2e754c6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9b2e754c6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b1dcf134d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9b1dcf134d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9b1dcf134d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b1dcf134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b1dcf134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9b1dcf134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b1dcf134d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9b1dcf134d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9b1dcf134d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b1dcf134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9b1dcf134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9b1dcf134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4a7b2508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84a7b2508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84a7b2508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784400" y="720240"/>
            <a:ext cx="10188600" cy="65454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7315200" y="-20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424800" y="1973080"/>
            <a:ext cx="6472200" cy="2371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424800" y="4484920"/>
            <a:ext cx="6472200" cy="1976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7903200" y="1158520"/>
            <a:ext cx="6139200" cy="59121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98720" y="6768920"/>
            <a:ext cx="9598200" cy="9681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ctr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  <a:defRPr sz="2900">
                <a:solidFill>
                  <a:schemeClr val="dk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dk2"/>
                </a:solidFill>
              </a:defRPr>
            </a:lvl1pPr>
            <a:lvl2pPr lvl="1" algn="r">
              <a:buNone/>
              <a:defRPr sz="1600">
                <a:solidFill>
                  <a:schemeClr val="dk2"/>
                </a:solidFill>
              </a:defRPr>
            </a:lvl2pPr>
            <a:lvl3pPr lvl="2" algn="r">
              <a:buNone/>
              <a:defRPr sz="1600">
                <a:solidFill>
                  <a:schemeClr val="dk2"/>
                </a:solidFill>
              </a:defRPr>
            </a:lvl3pPr>
            <a:lvl4pPr lvl="3" algn="r">
              <a:buNone/>
              <a:defRPr sz="1600">
                <a:solidFill>
                  <a:schemeClr val="dk2"/>
                </a:solidFill>
              </a:defRPr>
            </a:lvl4pPr>
            <a:lvl5pPr lvl="4" algn="r">
              <a:buNone/>
              <a:defRPr sz="1600">
                <a:solidFill>
                  <a:schemeClr val="dk2"/>
                </a:solidFill>
              </a:defRPr>
            </a:lvl5pPr>
            <a:lvl6pPr lvl="5" algn="r">
              <a:buNone/>
              <a:defRPr sz="1600">
                <a:solidFill>
                  <a:schemeClr val="dk2"/>
                </a:solidFill>
              </a:defRPr>
            </a:lvl6pPr>
            <a:lvl7pPr lvl="6" algn="r">
              <a:buNone/>
              <a:defRPr sz="1600">
                <a:solidFill>
                  <a:schemeClr val="dk2"/>
                </a:solidFill>
              </a:defRPr>
            </a:lvl7pPr>
            <a:lvl8pPr lvl="7" algn="r">
              <a:buNone/>
              <a:defRPr sz="1600">
                <a:solidFill>
                  <a:schemeClr val="dk2"/>
                </a:solidFill>
              </a:defRPr>
            </a:lvl8pPr>
            <a:lvl9pPr lvl="8" algn="r">
              <a:buNone/>
              <a:defRPr sz="1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lada.ru" TargetMode="External"/><Relationship Id="rId4" Type="http://schemas.openxmlformats.org/officeDocument/2006/relationships/hyperlink" Target="http://reuters.com" TargetMode="External"/><Relationship Id="rId5" Type="http://schemas.openxmlformats.org/officeDocument/2006/relationships/hyperlink" Target="https://tass.ru/ekonomika/19021023" TargetMode="External"/><Relationship Id="rId6" Type="http://schemas.openxmlformats.org/officeDocument/2006/relationships/hyperlink" Target="https://delprof.ru/press-center/open-analytics/rossijskij-rynok-avtoproma-v-2025-godu" TargetMode="External"/><Relationship Id="rId7" Type="http://schemas.openxmlformats.org/officeDocument/2006/relationships/hyperlink" Target="https://cyberleninka.ru/article/n/problemy-i-perspektivy-avtomobilnogo-brenda-la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2983575" y="7352925"/>
            <a:ext cx="8144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200"/>
          </a:p>
        </p:txBody>
      </p:sp>
      <p:pic>
        <p:nvPicPr>
          <p:cNvPr id="72" name="Google Shape;72;p16" title="vaz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25" y="0"/>
            <a:ext cx="15111176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1689325" y="5984550"/>
            <a:ext cx="8541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999999"/>
                </a:solidFill>
                <a:highlight>
                  <a:schemeClr val="lt1"/>
                </a:highlight>
              </a:rPr>
              <a:t>Мы создаём для наших клиентов качественные автомобили по доступным ценам, принося стабильную прибыль нашим акционерам, улучшая благосостояние наших сотрудников и повышая ценность нашего бизнеса во благо Отечества</a:t>
            </a:r>
            <a:endParaRPr i="1" sz="1900">
              <a:solidFill>
                <a:srgbClr val="999999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5380725" y="212100"/>
            <a:ext cx="4121400" cy="39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Собрание акционеров </a:t>
            </a:r>
            <a:r>
              <a:rPr lang="en-US">
                <a:solidFill>
                  <a:schemeClr val="dk1"/>
                </a:solidFill>
              </a:rPr>
              <a:t>ОАО “АВТОВАЗ”</a:t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113150" y="2903800"/>
            <a:ext cx="26442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Вице-президент ОАО”Автоваз”по закупкам</a:t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472550" y="5790775"/>
            <a:ext cx="1925400" cy="132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Дочерние общества осуществляющие производства </a:t>
            </a:r>
            <a:r>
              <a:rPr lang="en-US"/>
              <a:t>комплектующих</a:t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516200" y="3944325"/>
            <a:ext cx="18381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Функциональные службы и подразделения</a:t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5322225" y="877700"/>
            <a:ext cx="4199400" cy="39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Совет директороа ОАО “АВТОВАЗ”</a:t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5341725" y="1565875"/>
            <a:ext cx="4199400" cy="39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Правление ОАО “АВТОВАЗ”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5341725" y="2254050"/>
            <a:ext cx="4214100" cy="39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Генеральный директор - Президент ОАО “АВТОВАЗ”</a:t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2952175" y="2955050"/>
            <a:ext cx="26442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Вице-президент ОАО”Автоваз” по маркетингу и сбыту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5974200" y="2865050"/>
            <a:ext cx="26442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Вице-президент ОАО”Автоваз” по производству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8878950" y="2876975"/>
            <a:ext cx="26442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Вице-президент ОАО”Автоваз” по персоналу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11783700" y="2865050"/>
            <a:ext cx="26442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Вице-президент ОАО”Автоваз” по техническому развитию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3355225" y="3944325"/>
            <a:ext cx="18381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Функциональные службы и подразделения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6351475" y="3944325"/>
            <a:ext cx="18381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Функциональные службы и подразделения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9217150" y="3978000"/>
            <a:ext cx="18381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Функциональные службы и подразделения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12186750" y="3896075"/>
            <a:ext cx="1838100" cy="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Функциональные службы и подразделения</a:t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311575" y="5790775"/>
            <a:ext cx="1925400" cy="132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Дочерние общества осуществляющие сбыт продукции </a:t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9173500" y="5693375"/>
            <a:ext cx="1925400" cy="132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Дочерние общества осуществляющие реализацию социальных прогамм</a:t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12143100" y="5693375"/>
            <a:ext cx="1925400" cy="132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Дочерние общества осуществляющие научно-технические разработки</a:t>
            </a:r>
            <a:endParaRPr/>
          </a:p>
        </p:txBody>
      </p:sp>
      <p:cxnSp>
        <p:nvCxnSpPr>
          <p:cNvPr id="98" name="Google Shape;98;p17"/>
          <p:cNvCxnSpPr>
            <a:stCxn id="79" idx="2"/>
            <a:endCxn id="84" idx="0"/>
          </p:cNvCxnSpPr>
          <p:nvPr/>
        </p:nvCxnSpPr>
        <p:spPr>
          <a:xfrm flipH="1">
            <a:off x="7421925" y="612000"/>
            <a:ext cx="19500" cy="2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7"/>
          <p:cNvCxnSpPr/>
          <p:nvPr/>
        </p:nvCxnSpPr>
        <p:spPr>
          <a:xfrm flipH="1">
            <a:off x="7409625" y="1277600"/>
            <a:ext cx="1230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7"/>
          <p:cNvCxnSpPr>
            <a:endCxn id="86" idx="0"/>
          </p:cNvCxnSpPr>
          <p:nvPr/>
        </p:nvCxnSpPr>
        <p:spPr>
          <a:xfrm>
            <a:off x="7402275" y="1943250"/>
            <a:ext cx="46500" cy="3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7"/>
          <p:cNvCxnSpPr>
            <a:stCxn id="83" idx="2"/>
            <a:endCxn id="82" idx="0"/>
          </p:cNvCxnSpPr>
          <p:nvPr/>
        </p:nvCxnSpPr>
        <p:spPr>
          <a:xfrm>
            <a:off x="1435250" y="4600125"/>
            <a:ext cx="0" cy="11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7"/>
          <p:cNvCxnSpPr>
            <a:stCxn id="91" idx="2"/>
            <a:endCxn id="95" idx="0"/>
          </p:cNvCxnSpPr>
          <p:nvPr/>
        </p:nvCxnSpPr>
        <p:spPr>
          <a:xfrm>
            <a:off x="4274275" y="4600125"/>
            <a:ext cx="0" cy="11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7"/>
          <p:cNvCxnSpPr>
            <a:stCxn id="93" idx="2"/>
            <a:endCxn id="96" idx="0"/>
          </p:cNvCxnSpPr>
          <p:nvPr/>
        </p:nvCxnSpPr>
        <p:spPr>
          <a:xfrm>
            <a:off x="10136200" y="4633800"/>
            <a:ext cx="0" cy="105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>
            <a:stCxn id="94" idx="2"/>
            <a:endCxn id="97" idx="0"/>
          </p:cNvCxnSpPr>
          <p:nvPr/>
        </p:nvCxnSpPr>
        <p:spPr>
          <a:xfrm>
            <a:off x="13105800" y="4551875"/>
            <a:ext cx="0" cy="114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>
            <a:stCxn id="81" idx="2"/>
            <a:endCxn id="83" idx="0"/>
          </p:cNvCxnSpPr>
          <p:nvPr/>
        </p:nvCxnSpPr>
        <p:spPr>
          <a:xfrm>
            <a:off x="1435250" y="3559600"/>
            <a:ext cx="0" cy="3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>
            <a:stCxn id="87" idx="2"/>
            <a:endCxn id="91" idx="0"/>
          </p:cNvCxnSpPr>
          <p:nvPr/>
        </p:nvCxnSpPr>
        <p:spPr>
          <a:xfrm>
            <a:off x="4274275" y="3610850"/>
            <a:ext cx="0" cy="3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7"/>
          <p:cNvCxnSpPr>
            <a:stCxn id="92" idx="0"/>
            <a:endCxn id="88" idx="2"/>
          </p:cNvCxnSpPr>
          <p:nvPr/>
        </p:nvCxnSpPr>
        <p:spPr>
          <a:xfrm flipH="1" rot="10800000">
            <a:off x="7270525" y="3520725"/>
            <a:ext cx="258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7"/>
          <p:cNvCxnSpPr>
            <a:stCxn id="93" idx="0"/>
            <a:endCxn id="89" idx="2"/>
          </p:cNvCxnSpPr>
          <p:nvPr/>
        </p:nvCxnSpPr>
        <p:spPr>
          <a:xfrm flipH="1" rot="10800000">
            <a:off x="10136200" y="3532800"/>
            <a:ext cx="64800" cy="4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5361650" y="0"/>
            <a:ext cx="3272400" cy="122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Достичь технологической и поставочной независимости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0" y="0"/>
            <a:ext cx="30000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FFFFF"/>
                </a:solidFill>
              </a:rPr>
              <a:t>Достичь технологической и остаточной независимости</a:t>
            </a:r>
            <a:endParaRPr sz="1150">
              <a:solidFill>
                <a:srgbClr val="FFFFFF"/>
              </a:solidFill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705450" y="1318338"/>
            <a:ext cx="3272400" cy="122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</a:rPr>
              <a:t>Повысить локализацию комплектующих до 95–98 %.</a:t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705450" y="2701400"/>
            <a:ext cx="3272400" cy="122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</a:rPr>
              <a:t>Сформировать собственную инженерную и R&amp;D базу</a:t>
            </a:r>
            <a:endParaRPr sz="2350">
              <a:solidFill>
                <a:schemeClr val="dk1"/>
              </a:solidFill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705450" y="408445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</a:rPr>
              <a:t>Развить альтернативные каналы поставок и партнёрства (страны ЕАЭС, Китай, Турция и др.)</a:t>
            </a:r>
            <a:endParaRPr sz="2650"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705450" y="675335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</a:rPr>
              <a:t>Создать устойчивую финансовую модель для инвестиций в технологии.</a:t>
            </a:r>
            <a:endParaRPr sz="2850">
              <a:solidFill>
                <a:schemeClr val="dk1"/>
              </a:solidFill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705450" y="541890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</a:rPr>
              <a:t>Развить альтернативные каналы поставок и партнёрства (страны ЕАЭС, Китай, Турция и др.)</a:t>
            </a:r>
            <a:endParaRPr sz="2650">
              <a:solidFill>
                <a:schemeClr val="dk1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5361650" y="1366938"/>
            <a:ext cx="3272400" cy="122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Запуск производства критически важных узлов в России: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 • электроника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 • системы безопасности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</a:rPr>
              <a:t> • трансмиссии, двигатели нового поколения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361650" y="2750000"/>
            <a:ext cx="3272400" cy="122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</a:rPr>
              <a:t>Развитие партнёрств: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</a:rPr>
              <a:t> • лицензионные соглашения с китайскими и индийскими производителями,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</a:rPr>
              <a:t> • кооперация с отечественными поставщиками.</a:t>
            </a:r>
            <a:endParaRPr sz="1250">
              <a:solidFill>
                <a:schemeClr val="dk1"/>
              </a:solidFill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5361650" y="413305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</a:rPr>
              <a:t>Инвестиции в цифровизацию производства (ERP, MES, автоматизация логистики).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5361650" y="680195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</a:rPr>
              <a:t>Увеличение экспортных поставок для диверсификации выручки.</a:t>
            </a:r>
            <a:endParaRPr sz="1950">
              <a:solidFill>
                <a:schemeClr val="dk1"/>
              </a:solidFill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361650" y="546750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Формирование кадрового резерва: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 • привлечение инженеров и технологов,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 • сотрудничество с вузами и технопарками,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</a:rPr>
              <a:t> • программы переподготовки.</a:t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10460900" y="1366938"/>
            <a:ext cx="3272400" cy="122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</a:rPr>
              <a:t>Открыть линии по производству микросхем/электронных блоков (на базе технопарков и институтов).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10460900" y="2750000"/>
            <a:ext cx="3272400" cy="122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</a:rPr>
              <a:t>Оснастить заводы современным оборудованием для сварки и окраски кузовов.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10460900" y="413305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</a:rPr>
              <a:t>Запустить конструкторское бюро полного цикла (от концепта до тестирования).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10460900" y="546750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</a:rPr>
              <a:t>Внедрить программу контроля качества на всех этапах (lean, six sigma).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10460900" y="6801950"/>
            <a:ext cx="3272400" cy="113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</a:rPr>
              <a:t>Поддерживать сервисную инфраструктуру: онлайн-магазины запчастей, локальные сервис-центры.</a:t>
            </a:r>
            <a:endParaRPr sz="1750">
              <a:solidFill>
                <a:schemeClr val="dk1"/>
              </a:solidFill>
            </a:endParaRPr>
          </a:p>
        </p:txBody>
      </p:sp>
      <p:cxnSp>
        <p:nvCxnSpPr>
          <p:cNvPr id="132" name="Google Shape;132;p18"/>
          <p:cNvCxnSpPr>
            <a:stCxn id="114" idx="2"/>
            <a:endCxn id="121" idx="0"/>
          </p:cNvCxnSpPr>
          <p:nvPr/>
        </p:nvCxnSpPr>
        <p:spPr>
          <a:xfrm>
            <a:off x="6997850" y="1229100"/>
            <a:ext cx="0" cy="1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8"/>
          <p:cNvCxnSpPr>
            <a:stCxn id="114" idx="1"/>
            <a:endCxn id="116" idx="0"/>
          </p:cNvCxnSpPr>
          <p:nvPr/>
        </p:nvCxnSpPr>
        <p:spPr>
          <a:xfrm flipH="1">
            <a:off x="2341550" y="614550"/>
            <a:ext cx="3020100" cy="703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" name="Google Shape;134;p18"/>
          <p:cNvCxnSpPr>
            <a:stCxn id="114" idx="3"/>
            <a:endCxn id="126" idx="0"/>
          </p:cNvCxnSpPr>
          <p:nvPr/>
        </p:nvCxnSpPr>
        <p:spPr>
          <a:xfrm>
            <a:off x="8634050" y="614550"/>
            <a:ext cx="3463200" cy="752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8"/>
          <p:cNvCxnSpPr>
            <a:stCxn id="116" idx="2"/>
            <a:endCxn id="117" idx="0"/>
          </p:cNvCxnSpPr>
          <p:nvPr/>
        </p:nvCxnSpPr>
        <p:spPr>
          <a:xfrm>
            <a:off x="2341650" y="2547438"/>
            <a:ext cx="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8"/>
          <p:cNvCxnSpPr>
            <a:stCxn id="117" idx="2"/>
            <a:endCxn id="118" idx="0"/>
          </p:cNvCxnSpPr>
          <p:nvPr/>
        </p:nvCxnSpPr>
        <p:spPr>
          <a:xfrm>
            <a:off x="2341650" y="3930500"/>
            <a:ext cx="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8"/>
          <p:cNvCxnSpPr>
            <a:endCxn id="120" idx="0"/>
          </p:cNvCxnSpPr>
          <p:nvPr/>
        </p:nvCxnSpPr>
        <p:spPr>
          <a:xfrm>
            <a:off x="2341650" y="5216400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8"/>
          <p:cNvCxnSpPr>
            <a:stCxn id="120" idx="2"/>
            <a:endCxn id="119" idx="0"/>
          </p:cNvCxnSpPr>
          <p:nvPr/>
        </p:nvCxnSpPr>
        <p:spPr>
          <a:xfrm>
            <a:off x="2341650" y="6550800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8"/>
          <p:cNvCxnSpPr>
            <a:endCxn id="122" idx="0"/>
          </p:cNvCxnSpPr>
          <p:nvPr/>
        </p:nvCxnSpPr>
        <p:spPr>
          <a:xfrm>
            <a:off x="6997850" y="2596100"/>
            <a:ext cx="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8"/>
          <p:cNvCxnSpPr>
            <a:stCxn id="122" idx="2"/>
            <a:endCxn id="123" idx="0"/>
          </p:cNvCxnSpPr>
          <p:nvPr/>
        </p:nvCxnSpPr>
        <p:spPr>
          <a:xfrm>
            <a:off x="6997850" y="3979100"/>
            <a:ext cx="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8"/>
          <p:cNvCxnSpPr>
            <a:endCxn id="125" idx="0"/>
          </p:cNvCxnSpPr>
          <p:nvPr/>
        </p:nvCxnSpPr>
        <p:spPr>
          <a:xfrm>
            <a:off x="6997850" y="5265000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8"/>
          <p:cNvCxnSpPr>
            <a:stCxn id="125" idx="2"/>
            <a:endCxn id="124" idx="0"/>
          </p:cNvCxnSpPr>
          <p:nvPr/>
        </p:nvCxnSpPr>
        <p:spPr>
          <a:xfrm>
            <a:off x="6997850" y="6599400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8"/>
          <p:cNvCxnSpPr>
            <a:stCxn id="126" idx="2"/>
            <a:endCxn id="127" idx="0"/>
          </p:cNvCxnSpPr>
          <p:nvPr/>
        </p:nvCxnSpPr>
        <p:spPr>
          <a:xfrm>
            <a:off x="12097100" y="2596038"/>
            <a:ext cx="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8"/>
          <p:cNvCxnSpPr>
            <a:stCxn id="127" idx="2"/>
            <a:endCxn id="128" idx="0"/>
          </p:cNvCxnSpPr>
          <p:nvPr/>
        </p:nvCxnSpPr>
        <p:spPr>
          <a:xfrm>
            <a:off x="12097100" y="3979100"/>
            <a:ext cx="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8"/>
          <p:cNvCxnSpPr>
            <a:stCxn id="128" idx="2"/>
            <a:endCxn id="129" idx="0"/>
          </p:cNvCxnSpPr>
          <p:nvPr/>
        </p:nvCxnSpPr>
        <p:spPr>
          <a:xfrm>
            <a:off x="12097100" y="5264950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8"/>
          <p:cNvCxnSpPr>
            <a:endCxn id="131" idx="0"/>
          </p:cNvCxnSpPr>
          <p:nvPr/>
        </p:nvCxnSpPr>
        <p:spPr>
          <a:xfrm>
            <a:off x="12097100" y="6599450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3916825" y="296925"/>
            <a:ext cx="814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SWOT-анализ компании Автоваз</a:t>
            </a:r>
            <a:endParaRPr sz="3200"/>
          </a:p>
        </p:txBody>
      </p:sp>
      <p:sp>
        <p:nvSpPr>
          <p:cNvPr id="153" name="Google Shape;153;p19"/>
          <p:cNvSpPr txBox="1"/>
          <p:nvPr/>
        </p:nvSpPr>
        <p:spPr>
          <a:xfrm>
            <a:off x="11821200" y="1258475"/>
            <a:ext cx="28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226225" y="1258475"/>
            <a:ext cx="3365400" cy="6476100"/>
          </a:xfrm>
          <a:prstGeom prst="roundRect">
            <a:avLst>
              <a:gd fmla="val 16667" name="adj"/>
            </a:avLst>
          </a:prstGeom>
          <a:solidFill>
            <a:srgbClr val="88F9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3880338" y="1258475"/>
            <a:ext cx="3365400" cy="6476100"/>
          </a:xfrm>
          <a:prstGeom prst="roundRect">
            <a:avLst>
              <a:gd fmla="val 16667" name="adj"/>
            </a:avLst>
          </a:prstGeom>
          <a:solidFill>
            <a:srgbClr val="ED220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7534488" y="1258475"/>
            <a:ext cx="3300900" cy="6476100"/>
          </a:xfrm>
          <a:prstGeom prst="roundRect">
            <a:avLst>
              <a:gd fmla="val 16667" name="adj"/>
            </a:avLst>
          </a:prstGeom>
          <a:solidFill>
            <a:srgbClr val="88F94D"/>
          </a:solidFill>
          <a:ln cap="flat" cmpd="sng" w="9525">
            <a:solidFill>
              <a:srgbClr val="88F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11124125" y="1258475"/>
            <a:ext cx="3365400" cy="6476100"/>
          </a:xfrm>
          <a:prstGeom prst="roundRect">
            <a:avLst>
              <a:gd fmla="val 16667" name="adj"/>
            </a:avLst>
          </a:prstGeom>
          <a:solidFill>
            <a:srgbClr val="ED220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07950" y="1527125"/>
            <a:ext cx="260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STRENGTHS</a:t>
            </a:r>
            <a:endParaRPr sz="2000"/>
          </a:p>
        </p:txBody>
      </p:sp>
      <p:sp>
        <p:nvSpPr>
          <p:cNvPr id="159" name="Google Shape;159;p19"/>
          <p:cNvSpPr txBox="1"/>
          <p:nvPr/>
        </p:nvSpPr>
        <p:spPr>
          <a:xfrm>
            <a:off x="7916250" y="1527125"/>
            <a:ext cx="260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OPPORTUNITIES</a:t>
            </a:r>
            <a:endParaRPr sz="2000"/>
          </a:p>
        </p:txBody>
      </p:sp>
      <p:sp>
        <p:nvSpPr>
          <p:cNvPr id="160" name="Google Shape;160;p19"/>
          <p:cNvSpPr txBox="1"/>
          <p:nvPr/>
        </p:nvSpPr>
        <p:spPr>
          <a:xfrm>
            <a:off x="4318175" y="1527125"/>
            <a:ext cx="260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WEAKNESSES</a:t>
            </a:r>
            <a:endParaRPr sz="2000"/>
          </a:p>
        </p:txBody>
      </p:sp>
      <p:sp>
        <p:nvSpPr>
          <p:cNvPr id="161" name="Google Shape;161;p19"/>
          <p:cNvSpPr txBox="1"/>
          <p:nvPr/>
        </p:nvSpPr>
        <p:spPr>
          <a:xfrm>
            <a:off x="11449825" y="1527125"/>
            <a:ext cx="260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THREATS</a:t>
            </a:r>
            <a:endParaRPr sz="2000"/>
          </a:p>
        </p:txBody>
      </p:sp>
      <p:sp>
        <p:nvSpPr>
          <p:cNvPr id="162" name="Google Shape;162;p19"/>
          <p:cNvSpPr txBox="1"/>
          <p:nvPr/>
        </p:nvSpPr>
        <p:spPr>
          <a:xfrm>
            <a:off x="226175" y="2357675"/>
            <a:ext cx="3365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Выпуск новых моделей даже при дефиците комплектующих</a:t>
            </a:r>
            <a:endParaRPr sz="1800"/>
          </a:p>
        </p:txBody>
      </p:sp>
      <p:sp>
        <p:nvSpPr>
          <p:cNvPr id="163" name="Google Shape;163;p19"/>
          <p:cNvSpPr txBox="1"/>
          <p:nvPr/>
        </p:nvSpPr>
        <p:spPr>
          <a:xfrm>
            <a:off x="226200" y="3466050"/>
            <a:ext cx="3365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Развитие онлайн-продаж и маркетплейсов</a:t>
            </a:r>
            <a:endParaRPr sz="1800"/>
          </a:p>
        </p:txBody>
      </p:sp>
      <p:sp>
        <p:nvSpPr>
          <p:cNvPr id="164" name="Google Shape;164;p19"/>
          <p:cNvSpPr txBox="1"/>
          <p:nvPr/>
        </p:nvSpPr>
        <p:spPr>
          <a:xfrm>
            <a:off x="226200" y="4246350"/>
            <a:ext cx="3365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Лидерство в сегменте бюджетных авто</a:t>
            </a:r>
            <a:endParaRPr sz="1800"/>
          </a:p>
        </p:txBody>
      </p:sp>
      <p:sp>
        <p:nvSpPr>
          <p:cNvPr id="165" name="Google Shape;165;p19"/>
          <p:cNvSpPr txBox="1"/>
          <p:nvPr/>
        </p:nvSpPr>
        <p:spPr>
          <a:xfrm>
            <a:off x="226150" y="5160175"/>
            <a:ext cx="3365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Локализация производства</a:t>
            </a:r>
            <a:endParaRPr sz="1800"/>
          </a:p>
        </p:txBody>
      </p:sp>
      <p:sp>
        <p:nvSpPr>
          <p:cNvPr id="166" name="Google Shape;166;p19"/>
          <p:cNvSpPr txBox="1"/>
          <p:nvPr/>
        </p:nvSpPr>
        <p:spPr>
          <a:xfrm>
            <a:off x="226350" y="6074000"/>
            <a:ext cx="3365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Господдержка (субсидии, гранты)</a:t>
            </a:r>
            <a:endParaRPr sz="1800"/>
          </a:p>
        </p:txBody>
      </p:sp>
      <p:sp>
        <p:nvSpPr>
          <p:cNvPr id="167" name="Google Shape;167;p19"/>
          <p:cNvSpPr txBox="1"/>
          <p:nvPr/>
        </p:nvSpPr>
        <p:spPr>
          <a:xfrm>
            <a:off x="3880338" y="2357675"/>
            <a:ext cx="3365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Потеря технологий и кадров после ухода Renault</a:t>
            </a:r>
            <a:endParaRPr sz="1800"/>
          </a:p>
        </p:txBody>
      </p:sp>
      <p:sp>
        <p:nvSpPr>
          <p:cNvPr id="168" name="Google Shape;168;p19"/>
          <p:cNvSpPr txBox="1"/>
          <p:nvPr/>
        </p:nvSpPr>
        <p:spPr>
          <a:xfrm>
            <a:off x="3880338" y="3456575"/>
            <a:ext cx="3365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Слабая география продаж (центральные регионы, корп. клиенты)</a:t>
            </a:r>
            <a:endParaRPr sz="1800"/>
          </a:p>
        </p:txBody>
      </p:sp>
      <p:sp>
        <p:nvSpPr>
          <p:cNvPr id="169" name="Google Shape;169;p19"/>
          <p:cNvSpPr txBox="1"/>
          <p:nvPr/>
        </p:nvSpPr>
        <p:spPr>
          <a:xfrm>
            <a:off x="3912600" y="4555475"/>
            <a:ext cx="3300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Низкое качество и сбои в процессах</a:t>
            </a:r>
            <a:endParaRPr sz="1800"/>
          </a:p>
        </p:txBody>
      </p:sp>
      <p:sp>
        <p:nvSpPr>
          <p:cNvPr id="170" name="Google Shape;170;p19"/>
          <p:cNvSpPr txBox="1"/>
          <p:nvPr/>
        </p:nvSpPr>
        <p:spPr>
          <a:xfrm>
            <a:off x="7534488" y="2357675"/>
            <a:ext cx="3300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Рост спроса на доступные авто</a:t>
            </a:r>
            <a:endParaRPr sz="1800"/>
          </a:p>
        </p:txBody>
      </p:sp>
      <p:sp>
        <p:nvSpPr>
          <p:cNvPr id="171" name="Google Shape;171;p19"/>
          <p:cNvSpPr txBox="1"/>
          <p:nvPr/>
        </p:nvSpPr>
        <p:spPr>
          <a:xfrm>
            <a:off x="7534475" y="3137975"/>
            <a:ext cx="3300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Поддержка локализации и импортозамещения</a:t>
            </a:r>
            <a:endParaRPr sz="1800"/>
          </a:p>
        </p:txBody>
      </p:sp>
      <p:sp>
        <p:nvSpPr>
          <p:cNvPr id="172" name="Google Shape;172;p19"/>
          <p:cNvSpPr txBox="1"/>
          <p:nvPr/>
        </p:nvSpPr>
        <p:spPr>
          <a:xfrm>
            <a:off x="7534475" y="3947075"/>
            <a:ext cx="33009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Партнёрства с Китаем (технологии, компоненты)</a:t>
            </a:r>
            <a:endParaRPr sz="1800"/>
          </a:p>
        </p:txBody>
      </p:sp>
      <p:sp>
        <p:nvSpPr>
          <p:cNvPr id="173" name="Google Shape;173;p19"/>
          <p:cNvSpPr txBox="1"/>
          <p:nvPr/>
        </p:nvSpPr>
        <p:spPr>
          <a:xfrm>
            <a:off x="7548438" y="5074775"/>
            <a:ext cx="3273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Расширение экспорта (СНГ, Африка, Ближний Восток)</a:t>
            </a:r>
            <a:endParaRPr sz="1800"/>
          </a:p>
        </p:txBody>
      </p:sp>
      <p:sp>
        <p:nvSpPr>
          <p:cNvPr id="174" name="Google Shape;174;p19"/>
          <p:cNvSpPr txBox="1"/>
          <p:nvPr/>
        </p:nvSpPr>
        <p:spPr>
          <a:xfrm>
            <a:off x="7534475" y="6173675"/>
            <a:ext cx="3300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Цифровые продажи и подписка</a:t>
            </a:r>
            <a:endParaRPr sz="1800"/>
          </a:p>
        </p:txBody>
      </p:sp>
      <p:sp>
        <p:nvSpPr>
          <p:cNvPr id="175" name="Google Shape;175;p19"/>
          <p:cNvSpPr txBox="1"/>
          <p:nvPr/>
        </p:nvSpPr>
        <p:spPr>
          <a:xfrm>
            <a:off x="7534488" y="6953975"/>
            <a:ext cx="3300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Рост сегмента SUV и спецтехники</a:t>
            </a:r>
            <a:endParaRPr sz="1800"/>
          </a:p>
        </p:txBody>
      </p:sp>
      <p:sp>
        <p:nvSpPr>
          <p:cNvPr id="176" name="Google Shape;176;p19"/>
          <p:cNvSpPr txBox="1"/>
          <p:nvPr/>
        </p:nvSpPr>
        <p:spPr>
          <a:xfrm>
            <a:off x="11124150" y="2357675"/>
            <a:ext cx="3365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Экспансия китайских брендов с лучшим качеством</a:t>
            </a:r>
            <a:endParaRPr sz="1800"/>
          </a:p>
        </p:txBody>
      </p:sp>
      <p:sp>
        <p:nvSpPr>
          <p:cNvPr id="177" name="Google Shape;177;p19"/>
          <p:cNvSpPr txBox="1"/>
          <p:nvPr/>
        </p:nvSpPr>
        <p:spPr>
          <a:xfrm>
            <a:off x="11124150" y="3466050"/>
            <a:ext cx="3365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Падение покупательной способности и рост цен</a:t>
            </a:r>
            <a:endParaRPr sz="1800"/>
          </a:p>
        </p:txBody>
      </p:sp>
      <p:sp>
        <p:nvSpPr>
          <p:cNvPr id="178" name="Google Shape;178;p19"/>
          <p:cNvSpPr/>
          <p:nvPr/>
        </p:nvSpPr>
        <p:spPr>
          <a:xfrm>
            <a:off x="12752775" y="7800967"/>
            <a:ext cx="1794300" cy="400200"/>
          </a:xfrm>
          <a:prstGeom prst="rect">
            <a:avLst/>
          </a:prstGeom>
          <a:solidFill>
            <a:srgbClr val="FAFFFB"/>
          </a:solidFill>
          <a:ln cap="flat" cmpd="sng" w="9525">
            <a:solidFill>
              <a:srgbClr val="FAFF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title="Автоваз - Frame 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12752775" y="7800967"/>
            <a:ext cx="1794300" cy="400200"/>
          </a:xfrm>
          <a:prstGeom prst="rect">
            <a:avLst/>
          </a:prstGeom>
          <a:solidFill>
            <a:srgbClr val="FAFFFB"/>
          </a:solidFill>
          <a:ln cap="flat" cmpd="sng" w="9525">
            <a:solidFill>
              <a:srgbClr val="FAFF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33900" y="815750"/>
            <a:ext cx="539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Деятельность компании “Автоваз” заключается в производстве и продаже легкового и коммерческого транспорта. Основные виды деятельности: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33900" y="1905375"/>
            <a:ext cx="5977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Проектирование и сборка автомобилей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Управление закупочными операциями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Клиентское обслуживание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Управление запасами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Логистика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Продажи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0" y="3482800"/>
            <a:ext cx="5977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Потребители сталкиваются с проблемой низкого качества сборки и повышенной стоимостью, связанной с логистическими издержками.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Отсутствие зависимости от иностранных деталей делает продукцию дешевле, а обслуживание доступней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Технологическая и поставочная зависимость от иностранных комплектующих делает невозможным точное прогнозирование в нестабильной обстановке. Также позиционирование в большей степени зарубежной продукции как отечественной снижает лояльность клиентов к компании. 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33900" y="6181075"/>
            <a:ext cx="5977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Исходя из этих вводных, для дальнейшего анализа были выбраны процессы:</a:t>
            </a:r>
            <a:br>
              <a:rPr lang="en-US"/>
            </a:br>
            <a:r>
              <a:rPr lang="en-US"/>
              <a:t>“Управление закупочными операциями”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“Проектирование и сборка”</a:t>
            </a:r>
            <a:br>
              <a:rPr lang="en-US"/>
            </a:br>
            <a:r>
              <a:rPr lang="en-US"/>
              <a:t>“Управление качеством”</a:t>
            </a:r>
            <a:endParaRPr/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3050" y="815751"/>
            <a:ext cx="8736624" cy="720791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33900" y="276025"/>
            <a:ext cx="5977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Процессы верхнего уровня</a:t>
            </a:r>
            <a:endParaRPr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381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59459" cy="807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59459" cy="807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672"/>
            <a:ext cx="14511874" cy="8162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0" y="0"/>
            <a:ext cx="14630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Экспертная оценка бизнес-процессов. Выбор приоритетных процессов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0" y="1884625"/>
            <a:ext cx="5157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БП1 – Процесс управления закупочными операциями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БП2 – Процесс проектирования и сборки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БП3 – Процесс управления качеством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БП4 – Процесс клиентского обслуживания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0" y="5464950"/>
            <a:ext cx="5157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Критерий 1. Управляемость процесса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Критерий 2. Стратегическое значение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Критерий 3. Устойчивость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Критерий 4. Влияние на лояльность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6"/>
          <p:cNvGraphicFramePr/>
          <p:nvPr/>
        </p:nvGraphicFramePr>
        <p:xfrm>
          <a:off x="5370513" y="196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{96CCA937-0553-4194-BF48-FEB1E80425F3}</a:tableStyleId>
              </a:tblPr>
              <a:tblGrid>
                <a:gridCol w="1752200"/>
                <a:gridCol w="1752200"/>
                <a:gridCol w="1752200"/>
                <a:gridCol w="1762575"/>
                <a:gridCol w="174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Бизнес-процесс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Э1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Э2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Э3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Средняя оценка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БП1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БП2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БП3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БП4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31" name="Google Shape;231;p26"/>
          <p:cNvCxnSpPr/>
          <p:nvPr/>
        </p:nvCxnSpPr>
        <p:spPr>
          <a:xfrm rot="10800000">
            <a:off x="7122725" y="1592700"/>
            <a:ext cx="0" cy="3675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6"/>
          <p:cNvCxnSpPr/>
          <p:nvPr/>
        </p:nvCxnSpPr>
        <p:spPr>
          <a:xfrm>
            <a:off x="7118950" y="1596250"/>
            <a:ext cx="70182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6"/>
          <p:cNvCxnSpPr/>
          <p:nvPr/>
        </p:nvCxnSpPr>
        <p:spPr>
          <a:xfrm flipH="1" rot="10800000">
            <a:off x="14131725" y="1599225"/>
            <a:ext cx="600" cy="369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6"/>
          <p:cNvSpPr txBox="1"/>
          <p:nvPr/>
        </p:nvSpPr>
        <p:spPr>
          <a:xfrm>
            <a:off x="9260650" y="1560000"/>
            <a:ext cx="283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Экспертная оценка важности БП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5" name="Google Shape;235;p26"/>
          <p:cNvGraphicFramePr/>
          <p:nvPr/>
        </p:nvGraphicFramePr>
        <p:xfrm>
          <a:off x="5367700" y="538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{96CCA937-0553-4194-BF48-FEB1E80425F3}</a:tableStyleId>
              </a:tblPr>
              <a:tblGrid>
                <a:gridCol w="1748450"/>
                <a:gridCol w="1174750"/>
                <a:gridCol w="1461600"/>
                <a:gridCol w="1470275"/>
                <a:gridCol w="1452950"/>
                <a:gridCol w="145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Бизнес-процесс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Критерий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Критерий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Критерий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Критерий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БП1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8,75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БП2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8,25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БП3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7,5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БП4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7,25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36" name="Google Shape;236;p26"/>
          <p:cNvCxnSpPr/>
          <p:nvPr/>
        </p:nvCxnSpPr>
        <p:spPr>
          <a:xfrm rot="10800000">
            <a:off x="7119913" y="5015050"/>
            <a:ext cx="0" cy="3675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6"/>
          <p:cNvCxnSpPr/>
          <p:nvPr/>
        </p:nvCxnSpPr>
        <p:spPr>
          <a:xfrm>
            <a:off x="7116138" y="5018600"/>
            <a:ext cx="70182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 flipH="1" rot="10800000">
            <a:off x="14128913" y="5021575"/>
            <a:ext cx="600" cy="369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6"/>
          <p:cNvSpPr txBox="1"/>
          <p:nvPr/>
        </p:nvSpPr>
        <p:spPr>
          <a:xfrm>
            <a:off x="9257838" y="4982350"/>
            <a:ext cx="26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Баллы, набранные критериями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0" y="0"/>
            <a:ext cx="14630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Экспертная оценка бизнес-процессов. Выбор приоритетных процессов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894425" y="6365525"/>
            <a:ext cx="4112100" cy="33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 rot="-5400000">
            <a:off x="-1338025" y="4207000"/>
            <a:ext cx="397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ВЛИЯНИЕ: СЛАБОЕ - СИЛЬНОЕ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778475" y="6702425"/>
            <a:ext cx="43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ВАЖНОСТЬ: СЛАБАЯ - СИЛЬНАЯ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1417125" y="3136275"/>
            <a:ext cx="1289400" cy="12894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БП3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1417125" y="4750875"/>
            <a:ext cx="1289400" cy="12894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БП4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3229225" y="3136275"/>
            <a:ext cx="1289400" cy="12894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БП1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3229225" y="4750888"/>
            <a:ext cx="1289400" cy="12894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БП2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500" y="3458125"/>
            <a:ext cx="67056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7"/>
          <p:cNvSpPr/>
          <p:nvPr/>
        </p:nvSpPr>
        <p:spPr>
          <a:xfrm>
            <a:off x="9436175" y="3829750"/>
            <a:ext cx="597300" cy="231900"/>
          </a:xfrm>
          <a:prstGeom prst="rect">
            <a:avLst/>
          </a:prstGeom>
          <a:solidFill>
            <a:srgbClr val="FEF0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11695925" y="5171550"/>
            <a:ext cx="597300" cy="231900"/>
          </a:xfrm>
          <a:prstGeom prst="rect">
            <a:avLst/>
          </a:prstGeom>
          <a:solidFill>
            <a:srgbClr val="FEF0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12820575" y="4832838"/>
            <a:ext cx="597300" cy="231900"/>
          </a:xfrm>
          <a:prstGeom prst="rect">
            <a:avLst/>
          </a:prstGeom>
          <a:solidFill>
            <a:srgbClr val="ED22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8348650" y="5491150"/>
            <a:ext cx="597300" cy="231900"/>
          </a:xfrm>
          <a:prstGeom prst="rect">
            <a:avLst/>
          </a:prstGeom>
          <a:solidFill>
            <a:srgbClr val="88F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13025550" y="3699400"/>
            <a:ext cx="73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БП1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10774850" y="4388500"/>
            <a:ext cx="73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БП2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9642675" y="4388500"/>
            <a:ext cx="73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БП3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8554200" y="5041200"/>
            <a:ext cx="73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БП4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7"/>
          <p:cNvSpPr/>
          <p:nvPr/>
        </p:nvSpPr>
        <p:spPr>
          <a:xfrm rot="-5400000">
            <a:off x="-1074475" y="4141000"/>
            <a:ext cx="4112100" cy="33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/>
        </p:nvSpPr>
        <p:spPr>
          <a:xfrm>
            <a:off x="350900" y="183800"/>
            <a:ext cx="11714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Описание процесса «Управление закупочными операциями» AS IS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70" name="Google Shape;270;p28"/>
          <p:cNvSpPr txBox="1"/>
          <p:nvPr/>
        </p:nvSpPr>
        <p:spPr>
          <a:xfrm>
            <a:off x="350900" y="1281200"/>
            <a:ext cx="116139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Участники процесса: </a:t>
            </a:r>
            <a:r>
              <a:rPr lang="en-US" sz="1800">
                <a:solidFill>
                  <a:schemeClr val="dk1"/>
                </a:solidFill>
              </a:rPr>
              <a:t>менеджер по закупкам, начальник отдела снабжения, специалист отдела складского учета, бухгалтер, поставщик.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</a:rPr>
              <a:t>Цель процесса:</a:t>
            </a:r>
            <a:r>
              <a:rPr lang="en-US" sz="1800">
                <a:solidFill>
                  <a:schemeClr val="dk1"/>
                </a:solidFill>
              </a:rPr>
              <a:t> обеспечение производства необходимыми материальными ресурсами (комплектующие, сырье, инструмент) в нужном объеме, требуемого качества и в установленные сроки.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451150" y="3140600"/>
            <a:ext cx="8375100" cy="55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Этапы процесса: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1. – Формирование и подача заявки на закупку.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2. – Согласование и утверждение заявки.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3. – Выбор поставщика и запрос коммерческих предложений.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4. – Подготовка и согласование договора поставки.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5. – Контроль исполнения договора и отслеживание отгрузки.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6. – Приемка товара на складе и проверка сопроводительных документов.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7. – Передача документов в бухгалтерию для проведения платежа.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CDDDF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CDDDF0"/>
              </a:highlight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675" y="0"/>
            <a:ext cx="8995725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9"/>
          <p:cNvSpPr txBox="1"/>
          <p:nvPr/>
        </p:nvSpPr>
        <p:spPr>
          <a:xfrm>
            <a:off x="103875" y="2847000"/>
            <a:ext cx="5219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Причины и следствия технологической и поставочной зависимости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384762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0300" lIns="90300" spcFirstLastPara="1" rIns="90300" wrap="square" tIns="90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Производственные подразделения,  Планово-экономический отдел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Инициатор заявки  - Финансово-экономический блок  - Руководство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Аккредитованные поставщики - Рыночные аналитики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Выбранный поставщик  - Юридический отдел  - Контрактный менеджер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Поставщик  - Логистическая служба  - Система мониторинга ERP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6. Поставщик  - Транспортная компания  - Складской персонал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7. Склад  - Контрактный менеджер  - Поставщик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3248705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00" lIns="90300" spcFirstLastPara="1" rIns="90300" wrap="square" tIns="903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Потребности - План - Остатки - Нормативы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Заявка - Бюджет - Регламенты - Комментарии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ТЗ - Критерии - База - Аналитика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КП - Договор - Юр. нормы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Договор - График - ERP - Уведомления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Товар - Документы - Акт - Наряд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Счёт - Инструкции - Фин. док-ты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6112648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0300" lIns="90300" spcFirstLastPara="1" rIns="90300" wrap="square" tIns="90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– Формирование заявки на основе производственных данных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– Согласование заявки через e-mail и согласующих лиц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Запрос КП у поставщиков вручную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– Подготовка и согласование договора поставки.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– Контроль исполнения договора и отслеживание отгрузки.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6. – Приемка товара, оформление акта и проверка вручную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7. – Передача документов в бухгалтерию для проведения платежа.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82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8976591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00" lIns="90300" spcFirstLastPara="1" rIns="90300" wrap="square" tIns="903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Сформированная заявка на закупку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Согласованная и утверждённая заявка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Полученные коммерческие предложения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Подписанный договор поставки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Уведомления об отгрузке и статусе исполнения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Принятый товар - акт приёмки и документы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Переданные в бухгалтерию документы на оплату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11840534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0300" lIns="90300" spcFirstLastPara="1" rIns="90300" wrap="square" tIns="903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Закупочный отдел - для исполнения заявки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Финансово-экономический блок - для контроля бюджета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Юридический отдел - для проверки договора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Логистика - для отслеживания поставки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Склад - для приёмки и хранения товара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Бухгалтерия - для проведения оплаты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Поставщик - как получатель оплаты и обратной связи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384826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5"/>
          </a:solidFill>
          <a:ln cap="flat" cmpd="sng" w="9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Suppliers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3248701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6112652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4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b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Process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8976572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9900FF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Outputs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11840538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C0000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5" name="Google Shape;2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9625" y="7559975"/>
            <a:ext cx="2740775" cy="6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 txBox="1"/>
          <p:nvPr/>
        </p:nvSpPr>
        <p:spPr>
          <a:xfrm>
            <a:off x="319725" y="61800"/>
            <a:ext cx="38124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As is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/>
          <p:nvPr/>
        </p:nvSpPr>
        <p:spPr>
          <a:xfrm>
            <a:off x="384762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0300" lIns="90300" spcFirstLastPara="1" rIns="90300" wrap="square" tIns="90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Производственные системы - ERP/MES, плановый отдел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Инициатор заявки - финансовый блок - согласующий руководитель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Цифровые базы поставщиков  - рыночная аналитика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Выбранный поставщик - юридическая служба - контрактный менеджер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Поставщик - логистика - ERP/системы трекинга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6. Поставщик - ТК - складской персонал с онлайн-доступом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7.Склад - контрактный менеджер - поставщик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3248705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00" lIns="90300" spcFirstLastPara="1" rIns="90300" wrap="square" tIns="90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Потребности - План - Остатки - Нормативы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Электронная заявка - лимиты - маршрут согласования - комментарии (в системе)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ТЗ - Критерии - База - Цифровая аналитика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КП - Договор - Юр. нормы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Договор - График - ERP - Уведомления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6. Поставка - ЭДО документы - Акт - Заказ-наряд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7. Счёт - Инструкции - Фин. док-ты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6112648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0300" lIns="90300" spcFirstLastPara="1" rIns="90300" wrap="square" tIns="90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–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Формирование заявки в ERP по плану производства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– C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огласование заявки через встроенный воркфлоу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Запрос КП у поставщиков через цифровые каналы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–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Подписание договора в ЭДО и отправка в ERP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– Контроль исполнения договора и отслеживание отгрузки в реальном времени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6. – Приемка товара - акты в ЭДО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7. – Передача документов в бухгалтерию автоматически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82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8976600" y="1174125"/>
            <a:ext cx="2405100" cy="632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00" lIns="90300" spcFirstLastPara="1" rIns="90300" wrap="square" tIns="90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Электронная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заявка на закупку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Согласованная и утверждённая заявка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Полученные коммерческие предложения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Подписанный договор поставки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Уведомления об отгрузке и статусе исполнения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6. Принятый товар - акт приёмки и документы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7. Переданные в бухгалтерию документы на оплату в цифровом виде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11840534" y="732450"/>
            <a:ext cx="2405100" cy="67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00" lIns="90300" spcFirstLastPara="1" rIns="90300" wrap="square" tIns="90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Закупочный отдел - 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для исполнения заявки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Финансово-экономический блок - для контроля бюджета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Юридический отдел - для проверки договора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Логистика - для отслеживания поставки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Склад - для приёмки и хранения товара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6. Бухгалтерия - для проведения оплаты</a:t>
            </a:r>
            <a:b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7. Поставщик - как получатель оплаты и обратной связи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384826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5"/>
          </a:solidFill>
          <a:ln cap="flat" cmpd="sng" w="9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Suppliers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3248701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6112652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4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b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Process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8976572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9900FF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Outputs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11840538" y="732450"/>
            <a:ext cx="2405100" cy="845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C0000"/>
          </a:solidFill>
          <a:ln cap="flat" cmpd="sng" w="9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2" name="Google Shape;3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9625" y="7559975"/>
            <a:ext cx="2740775" cy="6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 txBox="1"/>
          <p:nvPr/>
        </p:nvSpPr>
        <p:spPr>
          <a:xfrm>
            <a:off x="319725" y="61800"/>
            <a:ext cx="38124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To be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2" title="Снимок экрана 2025-10-13 в 15.27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009223" cy="583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2" title="Снимок экрана 2025-10-13 в 15.28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00" y="5989001"/>
            <a:ext cx="4204916" cy="19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2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2"/>
          <p:cNvSpPr txBox="1"/>
          <p:nvPr/>
        </p:nvSpPr>
        <p:spPr>
          <a:xfrm>
            <a:off x="5786650" y="6810225"/>
            <a:ext cx="7861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3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3"/>
          <p:cNvSpPr txBox="1"/>
          <p:nvPr/>
        </p:nvSpPr>
        <p:spPr>
          <a:xfrm>
            <a:off x="6810425" y="152400"/>
            <a:ext cx="7820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Модель процесса “Управление закупочными операциями” (AS IS)</a:t>
            </a:r>
            <a:endParaRPr sz="2900">
              <a:solidFill>
                <a:schemeClr val="dk2"/>
              </a:solidFill>
            </a:endParaRPr>
          </a:p>
        </p:txBody>
      </p:sp>
      <p:pic>
        <p:nvPicPr>
          <p:cNvPr id="331" name="Google Shape;331;p33" title="BPMN 2.0_As_is_read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475" y="152400"/>
            <a:ext cx="13431976" cy="81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4" title="Снимок экрана 2025-10-20 в 10.16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2500"/>
            <a:ext cx="14325601" cy="4483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4" title="Снимок экрана 2025-10-20 в 10.17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1150" y="5791195"/>
            <a:ext cx="527685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4"/>
          <p:cNvSpPr txBox="1"/>
          <p:nvPr/>
        </p:nvSpPr>
        <p:spPr>
          <a:xfrm>
            <a:off x="240375" y="268650"/>
            <a:ext cx="8144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RACI TO BE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5"/>
          <p:cNvSpPr txBox="1"/>
          <p:nvPr/>
        </p:nvSpPr>
        <p:spPr>
          <a:xfrm>
            <a:off x="6810425" y="152400"/>
            <a:ext cx="7820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Модель процесса “Управление закупочными операциями” (TO BE)</a:t>
            </a:r>
            <a:endParaRPr sz="2900">
              <a:solidFill>
                <a:schemeClr val="dk2"/>
              </a:solidFill>
            </a:endParaRPr>
          </a:p>
        </p:txBody>
      </p:sp>
      <p:pic>
        <p:nvPicPr>
          <p:cNvPr id="347" name="Google Shape;347;p35" title="BPMN 2.0_To_be_read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900"/>
            <a:ext cx="12991052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"/>
          <p:cNvSpPr txBox="1"/>
          <p:nvPr/>
        </p:nvSpPr>
        <p:spPr>
          <a:xfrm>
            <a:off x="0" y="0"/>
            <a:ext cx="5773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Стратегическая карта Автоваза 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355" name="Google Shape;355;p36"/>
          <p:cNvSpPr/>
          <p:nvPr/>
        </p:nvSpPr>
        <p:spPr>
          <a:xfrm>
            <a:off x="1591650" y="1608700"/>
            <a:ext cx="11447100" cy="1214700"/>
          </a:xfrm>
          <a:prstGeom prst="roundRect">
            <a:avLst>
              <a:gd fmla="val 16667" name="adj"/>
            </a:avLst>
          </a:prstGeom>
          <a:solidFill>
            <a:srgbClr val="3E8E1C">
              <a:alpha val="5885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Финансовые цели</a:t>
            </a:r>
            <a:endParaRPr/>
          </a:p>
        </p:txBody>
      </p:sp>
      <p:sp>
        <p:nvSpPr>
          <p:cNvPr id="356" name="Google Shape;356;p36"/>
          <p:cNvSpPr/>
          <p:nvPr/>
        </p:nvSpPr>
        <p:spPr>
          <a:xfrm>
            <a:off x="1591650" y="2932075"/>
            <a:ext cx="11447100" cy="1214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Рыночные цели</a:t>
            </a:r>
            <a:endParaRPr/>
          </a:p>
        </p:txBody>
      </p:sp>
      <p:sp>
        <p:nvSpPr>
          <p:cNvPr id="357" name="Google Shape;357;p36"/>
          <p:cNvSpPr/>
          <p:nvPr/>
        </p:nvSpPr>
        <p:spPr>
          <a:xfrm>
            <a:off x="1591650" y="4310150"/>
            <a:ext cx="11447100" cy="12147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Цели уровня внутренних процессов</a:t>
            </a:r>
            <a:endParaRPr/>
          </a:p>
        </p:txBody>
      </p:sp>
      <p:sp>
        <p:nvSpPr>
          <p:cNvPr id="358" name="Google Shape;358;p36"/>
          <p:cNvSpPr/>
          <p:nvPr/>
        </p:nvSpPr>
        <p:spPr>
          <a:xfrm>
            <a:off x="1591650" y="5688225"/>
            <a:ext cx="11447100" cy="12147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цели потенциала, обучения и развития</a:t>
            </a:r>
            <a:endParaRPr/>
          </a:p>
        </p:txBody>
      </p:sp>
      <p:cxnSp>
        <p:nvCxnSpPr>
          <p:cNvPr id="359" name="Google Shape;359;p36"/>
          <p:cNvCxnSpPr/>
          <p:nvPr/>
        </p:nvCxnSpPr>
        <p:spPr>
          <a:xfrm>
            <a:off x="5098000" y="1013900"/>
            <a:ext cx="0" cy="645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6"/>
          <p:cNvCxnSpPr/>
          <p:nvPr/>
        </p:nvCxnSpPr>
        <p:spPr>
          <a:xfrm>
            <a:off x="7659750" y="984925"/>
            <a:ext cx="0" cy="645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6"/>
          <p:cNvCxnSpPr/>
          <p:nvPr/>
        </p:nvCxnSpPr>
        <p:spPr>
          <a:xfrm>
            <a:off x="10460475" y="984925"/>
            <a:ext cx="0" cy="645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36"/>
          <p:cNvSpPr txBox="1"/>
          <p:nvPr/>
        </p:nvSpPr>
        <p:spPr>
          <a:xfrm>
            <a:off x="5231050" y="1115125"/>
            <a:ext cx="234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2"/>
                </a:solidFill>
              </a:rPr>
              <a:t>Клиентоориентированность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7746950" y="1115125"/>
            <a:ext cx="234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2"/>
                </a:solidFill>
              </a:rPr>
              <a:t>Технологическое развитие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10504250" y="1115125"/>
            <a:ext cx="258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2"/>
                </a:solidFill>
              </a:rPr>
              <a:t>Операционная эффективность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5165488" y="1888150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Повысить рыночную долю в ключевых сегментах</a:t>
            </a:r>
            <a:endParaRPr sz="1100"/>
          </a:p>
        </p:txBody>
      </p:sp>
      <p:sp>
        <p:nvSpPr>
          <p:cNvPr id="366" name="Google Shape;366;p36"/>
          <p:cNvSpPr/>
          <p:nvPr/>
        </p:nvSpPr>
        <p:spPr>
          <a:xfrm>
            <a:off x="7823800" y="1888150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Увеличить инвестиции в новые технологии и платформы</a:t>
            </a:r>
            <a:endParaRPr sz="1100"/>
          </a:p>
        </p:txBody>
      </p:sp>
      <p:sp>
        <p:nvSpPr>
          <p:cNvPr id="367" name="Google Shape;367;p36"/>
          <p:cNvSpPr/>
          <p:nvPr/>
        </p:nvSpPr>
        <p:spPr>
          <a:xfrm>
            <a:off x="10560038" y="1888150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Повысить прибыльность и снизить себестоимость</a:t>
            </a:r>
            <a:endParaRPr sz="1100"/>
          </a:p>
        </p:txBody>
      </p:sp>
      <p:sp>
        <p:nvSpPr>
          <p:cNvPr id="368" name="Google Shape;368;p36"/>
          <p:cNvSpPr/>
          <p:nvPr/>
        </p:nvSpPr>
        <p:spPr>
          <a:xfrm>
            <a:off x="5165488" y="3238875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Повысить лояльность клиентов и доверие к бренду Lada</a:t>
            </a:r>
            <a:endParaRPr sz="1100"/>
          </a:p>
        </p:txBody>
      </p:sp>
      <p:sp>
        <p:nvSpPr>
          <p:cNvPr id="369" name="Google Shape;369;p36"/>
          <p:cNvSpPr/>
          <p:nvPr/>
        </p:nvSpPr>
        <p:spPr>
          <a:xfrm>
            <a:off x="7812975" y="3211525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Расширить ассортимент моделей и внедрить новые технологические решения</a:t>
            </a:r>
            <a:endParaRPr sz="900"/>
          </a:p>
        </p:txBody>
      </p:sp>
      <p:sp>
        <p:nvSpPr>
          <p:cNvPr id="370" name="Google Shape;370;p36"/>
          <p:cNvSpPr/>
          <p:nvPr/>
        </p:nvSpPr>
        <p:spPr>
          <a:xfrm>
            <a:off x="10560038" y="3211525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Повысить качество обслуживания и доступность сервисов</a:t>
            </a:r>
            <a:endParaRPr sz="1100"/>
          </a:p>
        </p:txBody>
      </p:sp>
      <p:sp>
        <p:nvSpPr>
          <p:cNvPr id="371" name="Google Shape;371;p36"/>
          <p:cNvSpPr/>
          <p:nvPr/>
        </p:nvSpPr>
        <p:spPr>
          <a:xfrm>
            <a:off x="5148900" y="4589600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Оптимизировать взаимодействие с дилерской сетью и клиентами</a:t>
            </a:r>
            <a:endParaRPr sz="1100"/>
          </a:p>
        </p:txBody>
      </p:sp>
      <p:sp>
        <p:nvSpPr>
          <p:cNvPr id="372" name="Google Shape;372;p36"/>
          <p:cNvSpPr/>
          <p:nvPr/>
        </p:nvSpPr>
        <p:spPr>
          <a:xfrm>
            <a:off x="7804688" y="4589600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Запустить производство критически важных узлов</a:t>
            </a:r>
            <a:endParaRPr sz="1100"/>
          </a:p>
        </p:txBody>
      </p:sp>
      <p:sp>
        <p:nvSpPr>
          <p:cNvPr id="373" name="Google Shape;373;p36"/>
          <p:cNvSpPr/>
          <p:nvPr/>
        </p:nvSpPr>
        <p:spPr>
          <a:xfrm>
            <a:off x="10560050" y="4589600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Внедрить систему управления качеством и цифровизацию</a:t>
            </a:r>
            <a:endParaRPr sz="1100"/>
          </a:p>
        </p:txBody>
      </p:sp>
      <p:sp>
        <p:nvSpPr>
          <p:cNvPr id="374" name="Google Shape;374;p36"/>
          <p:cNvSpPr/>
          <p:nvPr/>
        </p:nvSpPr>
        <p:spPr>
          <a:xfrm>
            <a:off x="5148913" y="5967675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Развивать корпоративную культуру ориентации на клиента</a:t>
            </a:r>
            <a:endParaRPr sz="1100"/>
          </a:p>
        </p:txBody>
      </p:sp>
      <p:sp>
        <p:nvSpPr>
          <p:cNvPr id="375" name="Google Shape;375;p36"/>
          <p:cNvSpPr/>
          <p:nvPr/>
        </p:nvSpPr>
        <p:spPr>
          <a:xfrm>
            <a:off x="7804688" y="5967675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Повысить квалификацию </a:t>
            </a:r>
            <a:r>
              <a:rPr lang="en-US" sz="1000"/>
              <a:t>инженеров</a:t>
            </a:r>
            <a:r>
              <a:rPr lang="en-US" sz="1000"/>
              <a:t> и технологов, сотрудничество с вузами и технопарками</a:t>
            </a:r>
            <a:endParaRPr sz="1000"/>
          </a:p>
        </p:txBody>
      </p:sp>
      <p:sp>
        <p:nvSpPr>
          <p:cNvPr id="376" name="Google Shape;376;p36"/>
          <p:cNvSpPr/>
          <p:nvPr/>
        </p:nvSpPr>
        <p:spPr>
          <a:xfrm>
            <a:off x="10560050" y="5967675"/>
            <a:ext cx="2472600" cy="65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Повысить уровень цифровых компетенций и управленческих навыков сотрудников</a:t>
            </a:r>
            <a:endParaRPr sz="1000"/>
          </a:p>
        </p:txBody>
      </p:sp>
      <p:cxnSp>
        <p:nvCxnSpPr>
          <p:cNvPr id="377" name="Google Shape;377;p36"/>
          <p:cNvCxnSpPr>
            <a:stCxn id="368" idx="0"/>
            <a:endCxn id="365" idx="4"/>
          </p:cNvCxnSpPr>
          <p:nvPr/>
        </p:nvCxnSpPr>
        <p:spPr>
          <a:xfrm rot="10800000">
            <a:off x="6401788" y="2544075"/>
            <a:ext cx="0" cy="69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36"/>
          <p:cNvCxnSpPr>
            <a:stCxn id="369" idx="0"/>
            <a:endCxn id="366" idx="4"/>
          </p:cNvCxnSpPr>
          <p:nvPr/>
        </p:nvCxnSpPr>
        <p:spPr>
          <a:xfrm flipH="1" rot="10800000">
            <a:off x="9049275" y="2544025"/>
            <a:ext cx="10800" cy="66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36"/>
          <p:cNvCxnSpPr>
            <a:stCxn id="370" idx="0"/>
            <a:endCxn id="367" idx="4"/>
          </p:cNvCxnSpPr>
          <p:nvPr/>
        </p:nvCxnSpPr>
        <p:spPr>
          <a:xfrm rot="10800000">
            <a:off x="11796338" y="2544025"/>
            <a:ext cx="0" cy="66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36"/>
          <p:cNvCxnSpPr>
            <a:stCxn id="373" idx="0"/>
            <a:endCxn id="370" idx="4"/>
          </p:cNvCxnSpPr>
          <p:nvPr/>
        </p:nvCxnSpPr>
        <p:spPr>
          <a:xfrm rot="10800000">
            <a:off x="11796350" y="3867200"/>
            <a:ext cx="0" cy="72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36"/>
          <p:cNvCxnSpPr>
            <a:stCxn id="372" idx="0"/>
            <a:endCxn id="369" idx="4"/>
          </p:cNvCxnSpPr>
          <p:nvPr/>
        </p:nvCxnSpPr>
        <p:spPr>
          <a:xfrm flipH="1" rot="10800000">
            <a:off x="9040988" y="3867200"/>
            <a:ext cx="8400" cy="72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36"/>
          <p:cNvCxnSpPr>
            <a:stCxn id="371" idx="0"/>
            <a:endCxn id="368" idx="4"/>
          </p:cNvCxnSpPr>
          <p:nvPr/>
        </p:nvCxnSpPr>
        <p:spPr>
          <a:xfrm flipH="1" rot="10800000">
            <a:off x="6385200" y="3894800"/>
            <a:ext cx="16500" cy="69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36"/>
          <p:cNvCxnSpPr>
            <a:stCxn id="374" idx="0"/>
            <a:endCxn id="371" idx="4"/>
          </p:cNvCxnSpPr>
          <p:nvPr/>
        </p:nvCxnSpPr>
        <p:spPr>
          <a:xfrm rot="10800000">
            <a:off x="6385213" y="5245275"/>
            <a:ext cx="0" cy="72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36"/>
          <p:cNvCxnSpPr>
            <a:stCxn id="375" idx="0"/>
            <a:endCxn id="372" idx="4"/>
          </p:cNvCxnSpPr>
          <p:nvPr/>
        </p:nvCxnSpPr>
        <p:spPr>
          <a:xfrm rot="10800000">
            <a:off x="9040988" y="5245275"/>
            <a:ext cx="0" cy="72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36"/>
          <p:cNvCxnSpPr>
            <a:stCxn id="376" idx="0"/>
            <a:endCxn id="373" idx="4"/>
          </p:cNvCxnSpPr>
          <p:nvPr/>
        </p:nvCxnSpPr>
        <p:spPr>
          <a:xfrm rot="10800000">
            <a:off x="11796350" y="5245275"/>
            <a:ext cx="0" cy="72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7"/>
          <p:cNvSpPr txBox="1"/>
          <p:nvPr/>
        </p:nvSpPr>
        <p:spPr>
          <a:xfrm>
            <a:off x="492600" y="0"/>
            <a:ext cx="14137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Матрицы интеграции метрик для процесса “Управление закупочными операциями”и сводные KPI целей, которые зависят от этого процесса</a:t>
            </a:r>
            <a:endParaRPr sz="2900">
              <a:solidFill>
                <a:schemeClr val="dk2"/>
              </a:solidFill>
            </a:endParaRPr>
          </a:p>
        </p:txBody>
      </p:sp>
      <p:graphicFrame>
        <p:nvGraphicFramePr>
          <p:cNvPr id="393" name="Google Shape;393;p37"/>
          <p:cNvGraphicFramePr/>
          <p:nvPr/>
        </p:nvGraphicFramePr>
        <p:xfrm>
          <a:off x="361225" y="90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{96CCA937-0553-4194-BF48-FEB1E80425F3}</a:tableStyleId>
              </a:tblPr>
              <a:tblGrid>
                <a:gridCol w="2120900"/>
                <a:gridCol w="2120900"/>
                <a:gridCol w="2120900"/>
                <a:gridCol w="2120900"/>
                <a:gridCol w="2120900"/>
                <a:gridCol w="2120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Шаг процесса (BPMN)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Метрика шага (Lead)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 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 BE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Источники данных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Владелец метрики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Формирование заявки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Время на формирование заявки, ч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&lt;=2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ERP - система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Менеджер по закупкам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Выбор поставщика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Доля поставщиков из ЕАЭС/Китая/Турции 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&gt;= 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База поставщиков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Начальник отдела снабжения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Согласование договора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Количество шагов согласования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Система электронного документооборота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Менеджер по закупкам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Контроль исполнения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Время от заказа до отгрузки, дней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&lt;= 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ERP, система мониторинга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Логистическая служба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Приемка товара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% брака при приемке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&lt;=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Акт приемки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Служба контроля качества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94" name="Google Shape;394;p37"/>
          <p:cNvGraphicFramePr/>
          <p:nvPr/>
        </p:nvGraphicFramePr>
        <p:xfrm>
          <a:off x="361225" y="464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{96CCA937-0553-4194-BF48-FEB1E80425F3}</a:tableStyleId>
              </a:tblPr>
              <a:tblGrid>
                <a:gridCol w="3181350"/>
                <a:gridCol w="3181350"/>
                <a:gridCol w="3181350"/>
                <a:gridCol w="3181350"/>
              </a:tblGrid>
              <a:tr h="66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Стратегическая цель (из BSC)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KPI(Lag)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Формула / Аргрегация метрик процессов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Владелец KPI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0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Достичь технологической и поставочной независимости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% локализации комплектующих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(Стоимость локализованных комплектующих / общая стоимость комплектующих) * 100%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Вице - президент по закупкам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Повысить качество продукции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Количество дефектов на 100 авто (на ранней стадии сборки)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Агрегируется из метрик “Приемка товара” и данных с конвейера ( % брака при приемке)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Вице-президент по качеству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Оптимизировать цепочку создания стоимости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Объем запасов (дни)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Средний объем запасов на складе / среднедневной расход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Начальник отдела снабжения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Снизить себестоимость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Снижение издержек на единицу продукции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Снижение затрат в периодах / объем производства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Вице - президент по закупкам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8"/>
          <p:cNvSpPr txBox="1"/>
          <p:nvPr/>
        </p:nvSpPr>
        <p:spPr>
          <a:xfrm>
            <a:off x="1127475" y="563750"/>
            <a:ext cx="7731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2"/>
                </a:solidFill>
              </a:rPr>
              <a:t>Рекомендации</a:t>
            </a:r>
            <a:endParaRPr b="1" sz="3500">
              <a:solidFill>
                <a:schemeClr val="dk2"/>
              </a:solidFill>
            </a:endParaRPr>
          </a:p>
        </p:txBody>
      </p:sp>
      <p:sp>
        <p:nvSpPr>
          <p:cNvPr id="402" name="Google Shape;402;p38"/>
          <p:cNvSpPr txBox="1"/>
          <p:nvPr/>
        </p:nvSpPr>
        <p:spPr>
          <a:xfrm>
            <a:off x="3650875" y="2460150"/>
            <a:ext cx="77313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Автоматизация и цифровизация процессов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Оптимизация согласований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Развитие базы поставщиков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</a:rPr>
              <a:t>Контроль и аналитика 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9"/>
          <p:cNvSpPr txBox="1"/>
          <p:nvPr/>
        </p:nvSpPr>
        <p:spPr>
          <a:xfrm>
            <a:off x="1497650" y="934175"/>
            <a:ext cx="854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Список источников:</a:t>
            </a:r>
            <a:endParaRPr sz="2700"/>
          </a:p>
        </p:txBody>
      </p:sp>
      <p:sp>
        <p:nvSpPr>
          <p:cNvPr id="409" name="Google Shape;409;p39"/>
          <p:cNvSpPr txBox="1"/>
          <p:nvPr/>
        </p:nvSpPr>
        <p:spPr>
          <a:xfrm>
            <a:off x="1512475" y="2921125"/>
            <a:ext cx="854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Официальный сайт Lada(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lada.ru</a:t>
            </a:r>
            <a:r>
              <a:rPr lang="en-US"/>
              <a:t>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Информагентство Reuters (</a:t>
            </a:r>
            <a:r>
              <a:rPr lang="en-US" u="sng">
                <a:solidFill>
                  <a:schemeClr val="hlink"/>
                </a:solidFill>
                <a:hlinkClick r:id="rId4"/>
              </a:rPr>
              <a:t>reuters.com</a:t>
            </a:r>
            <a:r>
              <a:rPr lang="en-US"/>
              <a:t>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 u="sng">
                <a:solidFill>
                  <a:schemeClr val="hlink"/>
                </a:solidFill>
                <a:hlinkClick r:id="rId5"/>
              </a:rPr>
              <a:t>Количество китайских дилерских центров в России достигло почти 2 тыс.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 u="sng">
                <a:solidFill>
                  <a:schemeClr val="hlink"/>
                </a:solidFill>
                <a:hlinkClick r:id="rId6"/>
              </a:rPr>
              <a:t>Российский автомобильный рынок в 2025 году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 u="sng">
                <a:solidFill>
                  <a:schemeClr val="hlink"/>
                </a:solidFill>
                <a:hlinkClick r:id="rId7"/>
              </a:rPr>
              <a:t>ПРОБЛЕМЫ И ПЕРСПЕКТИВЫ АВТОМОБИЛЬНОГО БРЕНДА LADA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/>
          <p:nvPr/>
        </p:nvSpPr>
        <p:spPr>
          <a:xfrm>
            <a:off x="12705125" y="7573900"/>
            <a:ext cx="1925400" cy="655800"/>
          </a:xfrm>
          <a:prstGeom prst="rect">
            <a:avLst/>
          </a:prstGeom>
          <a:solidFill>
            <a:srgbClr val="FAF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